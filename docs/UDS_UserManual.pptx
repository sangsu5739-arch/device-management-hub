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37160" cy="2194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Universal Device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015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2FF"/>
                </a:solidFill>
              </a:rPr>
              <a:t>FT232H MPSSE 기반 멀티 프로토콜 하드웨어 검증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587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0C0"/>
                </a:solidFill>
              </a:rPr>
              <a:t>I2C / SPI / JTAG / UART / GPIO  —  All-in-One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343400"/>
            <a:ext cx="1188720" cy="347472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343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v1.0.0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4343400"/>
            <a:ext cx="1645920" cy="347472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4343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</a:rPr>
              <a:t>STATSChipPAC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914400"/>
            <a:ext cx="3657600" cy="50292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30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다크 테마 메인 창 전체 (연결된 상태, FTDI Verifier 탭 활성)]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69280"/>
            <a:ext cx="1097280" cy="9144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999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[UDS 아이콘]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63550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058"/>
                </a:solidFill>
              </a:rPr>
              <a:t>STATSChipPAC  |  Hardware Verification &amp; Control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1325880"/>
            <a:ext cx="365760" cy="347472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258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261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제품 소개 및 시스템 요구사항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57276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3–4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2024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" y="2057400"/>
            <a:ext cx="365760" cy="34747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057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9933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설치 및 초기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042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5176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" y="2788920"/>
            <a:ext cx="365760" cy="347472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7889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메인 인터페이스 개요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0358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6–7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" y="3520440"/>
            <a:ext cx="365760" cy="347472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5204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564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FTDI Verifier 모듈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7673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8–12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8872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08192" y="1325880"/>
            <a:ext cx="365760" cy="34747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132588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261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INA228 전력 모니터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57276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13–15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92024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08192" y="2057400"/>
            <a:ext cx="365760" cy="347472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2057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9933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PI6CG18201 클럭 제너레이터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30428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16–17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265176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08192" y="2788920"/>
            <a:ext cx="365760" cy="347472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278892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7249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ADS1018 ADC 모니터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0358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18–19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383280"/>
            <a:ext cx="5303520" cy="621792"/>
          </a:xfrm>
          <a:prstGeom prst="rect">
            <a:avLst/>
          </a:prstGeom>
          <a:solidFill>
            <a:srgbClr val="242838"/>
          </a:solidFill>
          <a:ln w="12700">
            <a:solidFill>
              <a:srgbClr val="E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08192" y="3520440"/>
            <a:ext cx="365760" cy="347472"/>
          </a:xfrm>
          <a:prstGeom prst="round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08192" y="35204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2E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4564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트러블슈팅 및 주의사항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7673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Slide 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0" y="1188720"/>
            <a:ext cx="1005840" cy="539496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64240" y="37592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[탭 바 클로즈업]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제품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5156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Universal Device Studio(UDS)는 FT232H USB 인터페이스를 통해 다양한 하드웨어 디바이스를 통합 관리하는 PC 기반 테스트 툴입니다.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029200" cy="320040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72768"/>
            <a:ext cx="64008" cy="3200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6276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핵심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1956816"/>
            <a:ext cx="4937760" cy="1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I2C 버스 스캔 및 ACK/NACK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SPI Probe + Device ID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60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JTAG TAP 상태 머신 다이어그램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UART 시리얼 터미널 (COM 포트 자동 감지)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08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GPIO Bit-Bang 폴링 및 레벨 제어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383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INA228 전압/전류/전력 실시간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657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PI6CG18201 클럭 제너레이터 레지스터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931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ADS1018 4채널 12-bit ADC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846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지원 모듈 (4개)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212080"/>
            <a:ext cx="2286000" cy="4114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FTDI Verifier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5212080"/>
            <a:ext cx="2286000" cy="4114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INA228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5212080"/>
            <a:ext cx="2286000" cy="41148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PI6CG18201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5212080"/>
            <a:ext cx="2286000" cy="41148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ADS1018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143000"/>
            <a:ext cx="6309360" cy="32004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26162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[다이어그램: PC - USB - FT232H/FT2232H/FT4232H - Target 연결 블록도]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4480560"/>
            <a:ext cx="6309360" cy="210312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54051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연결 완료 상태 - 초록색 LED 및 연결 정보]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요구사항 및 지원 하드웨어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System Requirements &amp; Supported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840480" cy="411480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64008" cy="4114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197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소프트웨어 요구사항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527048"/>
            <a:ext cx="3749040" cy="1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81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OS: Windows 10/11 64-bit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56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Python 3.9+ 권장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30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PySide6 6.7+, pyqtgraph 0.13+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404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ftd2xx 1.3+, pyserial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79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FTDI D2XX Driver 필수 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953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pip install PySide6 pyqtgraph ftd2xx pyserial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143000"/>
            <a:ext cx="3840480" cy="411480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143000"/>
            <a:ext cx="64008" cy="4114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7" y="1197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지원 FTDI 칩셋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7" y="1527048"/>
            <a:ext cx="374904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7" y="1581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FT232H  —  1채널 MPSSE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7" y="1856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FT2232H  —  2채널 (A/B: MPSSE)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7" y="2130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FT4232H  —  4채널 (A/B: MPSSE, C/D: GPIO)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7" y="2404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자동 칩 감지 및 채널 구성 자동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7" y="2679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C/D 채널: I2C/SPI/JTAG 비활성화 (GPIO only)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1143000"/>
            <a:ext cx="3840480" cy="4114800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598" y="1143000"/>
            <a:ext cx="64008" cy="4114800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6" y="11978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C68A"/>
                </a:solidFill>
              </a:rPr>
              <a:t>지원 디바이스 모듈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3606" y="1527048"/>
            <a:ext cx="3749040" cy="10160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6" y="1581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FTDI Verifier  —  프로토콜 검증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6" y="1856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INA228  —  전력 측정 (I2C)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6" y="2130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PI6CG18201  —  클럭 제너레이터 (SMBus)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6" y="2404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ADS1018  —  12-bit ADC (SPI)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6" y="2679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플러그인 구조: 모듈 추가/제거 용이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94960"/>
            <a:ext cx="11612880" cy="12344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8851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[사진/이미지: FT232H, FT2232H, FT4232H 보드 3종 나란히]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설치 및 초기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Installation &amp; Initial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143000"/>
            <a:ext cx="457200" cy="4572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F2E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2834640" cy="274320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64008" cy="2743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8249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E2"/>
                </a:solidFill>
              </a:rPr>
              <a:t>드라이버 설치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2029968"/>
            <a:ext cx="2697480" cy="1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03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FTDI 공식 사이트에서 D2XX Driver 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23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설치 완료 후 장치 관리자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'USB Serial Converter' 인식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90E2"/>
                </a:solidFill>
              </a:rPr>
              <a:t>&gt;&gt;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14300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F2E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627632"/>
            <a:ext cx="2834640" cy="274320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627632"/>
            <a:ext cx="64008" cy="2743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68249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</a:rPr>
              <a:t>패키지 설치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2029968"/>
            <a:ext cx="269748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103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pip install PySide6 pyqtgraph ftd2xx pyserial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423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복수 Python 환경: where python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python -m pip install ... 형식 권장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2FF"/>
                </a:solidFill>
              </a:rPr>
              <a:t>&gt;&gt;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143000"/>
            <a:ext cx="457200" cy="45720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F2E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627632"/>
            <a:ext cx="2834640" cy="2743200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627632"/>
            <a:ext cx="64008" cy="2743200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68249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C68A"/>
                </a:solidFill>
              </a:rPr>
              <a:t>앱 실행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2029968"/>
            <a:ext cx="2697480" cy="10160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103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python main.py  (프로젝트 루트 기준)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423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또는 배포 버전: DeviceManagementHub.exe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콘솔 오류 없이 4개 탭 자동 로드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CC68A"/>
                </a:solidFill>
              </a:rPr>
              <a:t>&gt;&gt;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1143000"/>
            <a:ext cx="457200" cy="4572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F2E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627632"/>
            <a:ext cx="2834640" cy="274320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1627632"/>
            <a:ext cx="64008" cy="2743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168249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초기 화면 확인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53728" y="2029968"/>
            <a:ext cx="2697480" cy="101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10312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4개 모듈 탭 표시 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4231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상단 연결 툴바 활성화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7432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Scan 버튼 클릭 → 장치 탐색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572000"/>
            <a:ext cx="5760720" cy="201168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450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앱 최초 실행 - 디바이스 미연결, 상태 LED 회색]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572000"/>
            <a:ext cx="5669280" cy="201168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450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장치 관리자 - FTDI D2XX 드라이버 인식 화면]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메인 인터페이스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Main Interface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777240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530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메인 창 전체 - 번호 어노테이션 오버레이 적용 (다크 테마, 연결 상태, FTDI Verifier 활성)]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97280"/>
            <a:ext cx="384048" cy="347472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9728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E2"/>
                </a:solidFill>
              </a:rPr>
              <a:t>Custom Title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408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0"/>
                </a:solidFill>
              </a:rPr>
              <a:t>UDS 로고 | 테마 토글 | 최소화/최대화/닫기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103120"/>
            <a:ext cx="384048" cy="34747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Connection Toolbar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414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0"/>
                </a:solidFill>
              </a:rPr>
              <a:t>Scan | 장치 콤보 | CH 버튼 | LED | 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08960"/>
            <a:ext cx="384048" cy="347472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Module Tab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41985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0"/>
                </a:solidFill>
              </a:rPr>
              <a:t>4개 모듈 탭 자동 로드 (플러그인 구조)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114800"/>
            <a:ext cx="384048" cy="347472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114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Module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4256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0"/>
                </a:solidFill>
              </a:rPr>
              <a:t>현재 활성 모듈의 기능 패널 (좌/우 분할)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5120640"/>
            <a:ext cx="384048" cy="347472"/>
          </a:xfrm>
          <a:prstGeom prst="round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F2E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80FF"/>
                </a:solidFill>
              </a:rPr>
              <a:t>Status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4315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B0C0"/>
                </a:solidFill>
              </a:rPr>
              <a:t>하단: 타임스탬프 포함 상태 메시지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연결 툴바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Connection Toolbar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12880" cy="10058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73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연결 툴바 클로즈업 - FT2232H 연결, Channel B 선택됨, 초록 LED]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50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Scan (R)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974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FTDI 장치 전체 열거. 멀티채널은 채널별 분리 표시. 연결 중에는 비활성화.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28600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286000"/>
            <a:ext cx="64008" cy="1325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350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Device Combo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6974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감지된 장치 목록 (시리얼번호 + 모델명 + 채널수). 4-tuple 데이터 내부 저장.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28600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64008" cy="1325880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2350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C68A"/>
                </a:solidFill>
              </a:rPr>
              <a:t>CH A/B/C/D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69748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멀티채널 장치에서 사용 채널 선택. 단채널 자동 선택. FT4232H C/D = MPSSE 불가 표시.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0332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64008" cy="13258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7673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Status 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1148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회색=미연결 | 초록=연결됨 | 빨간=오류/연결실패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70332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A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3703320"/>
            <a:ext cx="64008" cy="1325880"/>
          </a:xfrm>
          <a:prstGeom prst="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37673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80FF"/>
                </a:solidFill>
              </a:rPr>
              <a:t>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41148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선택 장치+채널로 MPSSE 세션 오픈. 연결 후 'Disconnect' 버튼으로 전환.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703320"/>
            <a:ext cx="3794760" cy="1325880"/>
          </a:xfrm>
          <a:prstGeom prst="rect">
            <a:avLst/>
          </a:prstGeom>
          <a:solidFill>
            <a:srgbClr val="242838"/>
          </a:solidFill>
          <a:ln w="127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703320"/>
            <a:ext cx="64008" cy="132588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376732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C040"/>
                </a:solidFill>
              </a:rPr>
              <a:t>Connection Info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1148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연결 완료 시 'Connected: SN=xxxx, CH=A' 형식으로 상세 정보 표시.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4937760"/>
            <a:ext cx="3657600" cy="1691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56565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콤보박스 드롭다운 - 복수 장치 목록]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FTDI Verifier  —  모듈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Hardware Verification Tool | I2C / SPI / JTAG / UART / GPIO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85800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530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FTDI Verifier 탭 전체 (I2C 모드, FT232H 핀아웃 우측 표시)]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43000"/>
            <a:ext cx="4572000" cy="320040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143000"/>
            <a:ext cx="64008" cy="3200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197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주요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0648" y="1527048"/>
            <a:ext cx="4480560" cy="1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5819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실시간 핀아웃 시각화 (hover/click 인터랙션)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8562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I2C Bus Scan (0x08~0x77, 이력 테이블)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21305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SPI Probe + Device ID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4048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JTAG TAP 상태 머신 다이어그램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6791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UART 터미널 (pyserial 기반 COM 포트)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9535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GPIO Bit-Bang 폴링 (50ms~10000ms)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3227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채널 전환 시 칩 스펙 자동 재적용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35021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FT4232H C/D: MPSSE 불가 구간 자동 비활성화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480560"/>
            <a:ext cx="841248" cy="384048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48056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I2C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0184" y="4480560"/>
            <a:ext cx="841248" cy="384048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448056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SPI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53728" y="4480560"/>
            <a:ext cx="841248" cy="384048"/>
          </a:xfrm>
          <a:prstGeom prst="round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448056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JTAG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77272" y="4480560"/>
            <a:ext cx="841248" cy="384048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77272" y="448056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UART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00816" y="4480560"/>
            <a:ext cx="841248" cy="384048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0816" y="448056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GPIO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4983480"/>
            <a:ext cx="4572000" cy="12344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54737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Device Info 패널 - Chip: FT2232H, Channel: A]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FTDI Verifier  —  I2C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I2C Bus Scan &amp; ACK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I2C 컨트롤 패널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스캔 결과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I2C Bus Scan 버튼: 0x08~0x77 전체 스캔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5623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스캔 소요 시간 자동 측정 및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5798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Scanned Address 콤보: 스캔 결과 자동 채워짐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콤보박스 직접 입력: 16진수 주소 수동 입력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6148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ACK TEST 버튼: 선택 주소로 I2C 프레임 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632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ACK LED: 초록=ACK / 빨간=NACK / 회색=N/A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554480"/>
            <a:ext cx="5943600" cy="3474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554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01952"/>
            <a:ext cx="594360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0x40 (INA228)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929384"/>
            <a:ext cx="1280160" cy="27432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19293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ACK 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231136"/>
            <a:ext cx="594360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23113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0x48 (ADS1115)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2258568"/>
            <a:ext cx="1280160" cy="27432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258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ACK 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560320"/>
            <a:ext cx="594360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5603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0x50 (PI6CG)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2587752"/>
            <a:ext cx="1280160" cy="27432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3960" y="25877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ACK 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889504"/>
            <a:ext cx="594360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88950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0x76 (BME280)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2916936"/>
            <a:ext cx="1280160" cy="274320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ACK 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3063240"/>
            <a:ext cx="5943600" cy="13716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3622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I2C 스캔 이력 테이블 - 타임스탬프, 발견 주소, 소요시간]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526280"/>
            <a:ext cx="5577840" cy="20574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4279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ACK TEST - ACK LED 초록색 점등 클로즈업]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5262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C040"/>
                </a:solidFill>
              </a:rPr>
              <a:t>주의: FT4232H CH C/D 선택 시 I2C/SPI/JTAG 버튼 자동 비활성화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8920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B0C0"/>
                </a:solidFill>
              </a:rPr>
              <a:t>슬레이브 주소는 7비트 형식으로 입력 (FtdiManager 내부에서 &lt;&lt;1 시프트 자동 처리)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FTDI Verifier  —  SPI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SPI Probe &amp; Device ID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SPI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99032"/>
            <a:ext cx="11430000" cy="127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2697480" cy="685800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81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C68A"/>
                </a:solidFill>
              </a:rPr>
              <a:t>Mode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013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CPOL=0 CPHA=0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1444752"/>
            <a:ext cx="2697480" cy="68580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1481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</a:rPr>
              <a:t>Mode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8013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CPOL=0 CPHA=1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8736" y="1444752"/>
            <a:ext cx="2697480" cy="68580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1481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Mode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8013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CPOL=1 CPHA=0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5944" y="1444752"/>
            <a:ext cx="2697480" cy="685800"/>
          </a:xfrm>
          <a:prstGeom prst="rect">
            <a:avLst/>
          </a:prstGeom>
          <a:solidFill>
            <a:srgbClr val="242838"/>
          </a:solidFill>
          <a:ln w="12700">
            <a:solidFill>
              <a:srgbClr val="AA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148132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80FF"/>
                </a:solidFill>
              </a:rPr>
              <a:t>Mode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18013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</a:rPr>
              <a:t>CPOL=1 CPHA=1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240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SPI 클럭 속도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87752"/>
            <a:ext cx="11430000" cy="127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100 kHz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400 kHz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1 MHz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2 MHz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4 MHz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6 MHz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10 MHz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2633472"/>
            <a:ext cx="1371600" cy="329184"/>
          </a:xfrm>
          <a:prstGeom prst="round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263347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</a:rPr>
              <a:t>12 MHz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063240"/>
            <a:ext cx="5577840" cy="13716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622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SPI 타이밍 다이어그램 - Mode 0 CLK/MOSI/MISO 파형 뷰]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SPI Probe  &amp;  Device ID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919472"/>
            <a:ext cx="11430000" cy="127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9834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SPI Probe 버튼: CS 활성화 + 더미 프레임 전송 → 응답 유무 확인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28523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Register 필드: 읽을 레지스터 주소 입력 (예: 0x9F JEDEC ID)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58698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Bytes 콤보: 읽을 바이트 수 선택 (1~4 bytes)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88873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Expected 필드: 예상 값 입력 (불일치 시 경고 표시)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19048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  &gt; Read ID 버튼 → 읽기 결과 라벨 표시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3063240"/>
            <a:ext cx="5943600" cy="35204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46964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SPI Device ID 검증 - 0x9F 읽기 결과 "0xEF4018 MATCH" 표시]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FTDI Verifier  —  JTAG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TAP State Machine Diagram &amp; Pin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97280"/>
            <a:ext cx="850392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5306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JTAG 모드 - TAP 다이어그램 + Pin Status 사이드바 전체 (현재 상태 하이라이트, TCK/TMS/TDI/TDO/RST LED 표시)]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9728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80FF"/>
                </a:solidFill>
              </a:rPr>
              <a:t>TAP 상태 머신 다이어그램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39903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16개 상태 노드 + 전이 화살표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0078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4K HiDPI 고해상도 PNG 렌더링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0253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현재 상태 하이라이트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1401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80FF"/>
                </a:solidFill>
              </a:rPr>
              <a:t>Pin Status 사이드바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15768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TCK / TMS / TDI / TDO / 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01752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각 핀 LED 점등 + HIGH/LOW 텍스트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429000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80FF"/>
                </a:solidFill>
              </a:rPr>
              <a:t>Mapping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30752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CSV Import/Export 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03250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Signal-to-Pin 매핑 테이블 (5열)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44398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80FF"/>
                </a:solidFill>
              </a:rPr>
              <a:t>TDO Logger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745736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</a:rPr>
              <a:t>수신 데이터 실시간 로그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29200"/>
            <a:ext cx="2926080" cy="118872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96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CSV 가져온 후 핀 매핑 테이블]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FTDI Verifier  —  UART  &amp;  GPIO 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Serial Terminal &amp; GPIO Bit-Bang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UART 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GPIO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COM 포트 자동 감지 (pyserial) + 새로고침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5623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Baudrate: 9600 ~ 921600 (8단계)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5798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Data bits: 7/8 | Parity: None/Even/Odd/Mark/Space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Stop bits: 1 / 1.5 /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6148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Flow control: None / RTS-CTS / XON-XOFF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06324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OPEN/CLOSE 버튼 (전체 너비 토글)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364992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콘솔: RX Format(ASCII/HEX), AutoScroll, Timestamp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666744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3열 테이블: Time / Dir(TX/RX) /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96849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Send 입력 + EOL 콤보 (No/CR/LF/CRLF) + 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27024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[주의] 탭 이탈 시 COM 포트 자동 닫힘 + MPSSE 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554480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Polling Interval: 50ms ~ 10000ms (SpinBox)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856232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Start/Stop Polling 토글 버튼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57984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GPIO Backend: BITBANG 모드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459736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핀별 토글 버튼: 'GPIO: HIGH' / 'GPIO: LOW' 레이블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761488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D0~D7 8핀 Bit-Bang 그리드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063240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GPIO 상태 테이블 (5열): Pin / Name / Mode / Dir /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364992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[주의] 크로스 채널 동작 시 경고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63440"/>
            <a:ext cx="5577840" cy="196596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5194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UART 탭 - COM3 열린 상태, 데이터 수신 중인 콘솔 테이블]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663440"/>
            <a:ext cx="5943600" cy="196596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5194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GPIO 탭 - Start Polling 활성, D0~D3 HIGH/LOW 혼합 상태]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INA228 전력 모니터  —  모듈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Real-time Voltage / Current / Power / Temperature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97280"/>
            <a:ext cx="786384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530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INA228 탭 전체 (모니터링 중, 이중 차트에 실시간 데이터 표시)]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657600" cy="173736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978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주소 스캔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1527048"/>
            <a:ext cx="356616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81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Scan Addresses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56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범위: 0x40 ~ 0x4F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30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감지 콤보박스 자동 채워짐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17520"/>
            <a:ext cx="3657600" cy="205740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64008" cy="2057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0723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ADC 설정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401568"/>
            <a:ext cx="3566160" cy="101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456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ADC Range: 80mV / 40mV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730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AVG Count: 1 ~ 1024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005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변환 시간: 50us ~ 4.12ms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2793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Shunt 저항값 입력 (mOhm)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12080"/>
            <a:ext cx="3657600" cy="173736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212080"/>
            <a:ext cx="64008" cy="17373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266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GPIO 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596128"/>
            <a:ext cx="3566160" cy="101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650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D4~D7 토글 버튼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59253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HIGH/OFF 레벨 잠금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1996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LED + Progress Bar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INA228  —  실시간 차트 &amp; 메트릭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Dual pyqtgraph Chart | Voltage &amp; Current Live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7132320" cy="310896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247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pyqtgraph 이중 차트 클로즈업 (상단: 전압 3.3V 안정적, 하단: 전류 파형)]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343400"/>
            <a:ext cx="1709928" cy="1005840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4074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E2"/>
                </a:solidFill>
              </a:rPr>
              <a:t>VBUS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</a:rPr>
              <a:t>버스 전압 (V)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75688" y="4343400"/>
            <a:ext cx="1709928" cy="100584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44074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</a:rPr>
              <a:t>VSHUNT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</a:rPr>
              <a:t>션트 전압 (mV)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7056" y="4343400"/>
            <a:ext cx="1709928" cy="100584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44074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</a:rPr>
              <a:t>전류 (A)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78424" y="4343400"/>
            <a:ext cx="1709928" cy="1005840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51576" y="44074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C68A"/>
                </a:solidFill>
              </a:rPr>
              <a:t>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</a:rPr>
              <a:t>소비 전력 (mW)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4343400"/>
            <a:ext cx="1463040" cy="1005840"/>
          </a:xfrm>
          <a:prstGeom prst="round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43434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Die Temp (deg 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097280"/>
            <a:ext cx="4480560" cy="416052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097280"/>
            <a:ext cx="64008" cy="4160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7" y="115214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기술 세부사항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2087" y="1481328"/>
            <a:ext cx="438912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7" y="15361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슬라이딩 윈도우: 기본 60초, 최대 2000 포인트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18105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DIAG_ALRT[bit0] 폴링으로 변환 완료 감지 (CNVRF)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20848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0-스파이크 필터: 이전값 비영에서 새값이 0이면 자동 스킵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2359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VSHUNT 변환: 3바이트 &gt;&gt; 4 (20-bit), Range0=312.5nV LSB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7" y="26334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VBUS 변환: 3바이트 &gt;&gt; 4 (20-bit), LSB=195.3125uV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7" y="29077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DIETEMP 변환: 2바이트, LSB=7.8125 m-degC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7" y="31821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Window 설정 (10~600s): 데이터 보존 구간 조절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INA228  —  레지스터 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INA228 Register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512064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53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INA228 레지스터 맵 테이블 (decoded 값과 hex 동시 표시)]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583680" cy="3474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레지스터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1430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430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크기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1430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설명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490472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517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5179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5179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1517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ADC 리셋, 변환 지연, 온도 보정 활성화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819656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847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ADC_CONFIG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18470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0x01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1847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18470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MODE, VBUSCT, VSHCT, SHCT, AVG 설정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48840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176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SHUNT_CAL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1762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전류 계산 스케일 팩터 (CURRENT_LSB 기반)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78024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5054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VSHUNT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25054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0x04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3B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5054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션트 차동 전압 (20-bit, 부호 있음)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807208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VBUS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3B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버스 전압 (20-bit, 부호 없음)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136392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1638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DIETEMP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1638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0x06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31638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2B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638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다이 온도 (16-bit, 12-bit 유효)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465576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493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CURRENT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34930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34930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3B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930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계산된 전류값 (SHUNT_CAL 적용)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794760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3822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POWER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38221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0x08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38221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3B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38221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계산된 전력값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123944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151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DIAG_ALRT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23160" y="4151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0x0B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46120" y="41513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2B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200" y="41513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변환 완료(CNVRF) + 알람 플래그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453128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MANUFACTURER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2316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0x3E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6120" y="44805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2B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0" y="4480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제조사 ID (0x5449 = Texas Instruments)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782312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809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DEVICE_ID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23160" y="48097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0x3F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48097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2B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6200" y="48097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2FF"/>
                </a:solidFill>
              </a:rPr>
              <a:t>디바이스 ID (0x2281)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PI6CG18201  —  클럭 제너레이터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Programmable Differential Clock Generator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제어 패널 (Control Center)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클럭 파형 시각화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Slave Address: 0x68 (SADR=L) / 0x6A (SADR=H)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288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Advanced Mode: 바이트/비트 매핑 힌트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945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Output Enable (OE):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468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Q0 (Q0+/Q0-) 체크박스 - 청록색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743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Q1 (Q1+/Q1-) 체크박스 - 분홍색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108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Output Amplitude: 0.6V / 0.7V / 0.8V / 0.9V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474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Spread Spectrum (SS):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49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Auto (HW 핀 SS0/SS1 추종)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Off / Weak (-0.25%) / Strong (-0.5%)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2976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SS Readback 뱃지 (현재 HW 상태)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663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Slew Rate (Coarse): Both Slow ~ Both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9377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Slew Rate (Fine REF): Slow/Medium/Fast/Very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212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Combined Level: 'Lv.8/15' 형식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577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Live Mode: ON 시 설정 변경 즉시 I2C 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8521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Read / Write 버튼 (수동 트리거)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554480"/>
            <a:ext cx="5943600" cy="256032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707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클럭 파형 시각화 - Q0/Q1 차동 파형, 진폭/슬루율 반영]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251960"/>
            <a:ext cx="5943600" cy="19202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5085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제어 패널 - Advanced Mode ON, 힌트 텍스트 표시 중]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PI6CG18201  —  레지스터 맵 &amp; Live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Register Bit-Field Reference | SMBus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5120640" cy="274320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341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레지스터 맵 테이블 - Byte0~7 hex + decoded 비트필드]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977639"/>
            <a:ext cx="5120640" cy="265176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51765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Live Mode ON 상태 - I2C 로그에 Write 기록 실시간]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143000"/>
            <a:ext cx="6583680" cy="347472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143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BitField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1430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Byte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1430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143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90472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517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OE_Q0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15179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15179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Q0 출력 인에이블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19656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847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OE_Q1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1847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1847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Q1 출력 인에이블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48840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176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AMPLITUDE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21762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[1:0]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176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출력 전압 레벨 (0.6/0.7/0.8/0.9V)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478024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5054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SS_SW_CTRL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250545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250545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[5]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5054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Spread Spectrum 소프트웨어 제어 활성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807208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834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SS_MODE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2834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2834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[4:3]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SS 모드 (Off/Weak/Strong)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136392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1638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SLEW_Q0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316382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31638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[1]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3163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Q0 슬루율 (0=Slow, 1=Fast)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65576"/>
            <a:ext cx="6583680" cy="329184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4930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SLEW_Q1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34930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34930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[2]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7560" y="34930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C68A"/>
                </a:solidFill>
              </a:rPr>
              <a:t>Q1 슬루율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794760"/>
            <a:ext cx="6583680" cy="329184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822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REF_SLEW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5960" y="38221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38221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[7:6]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3822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REF 슬루율 (Slow~Very Fast)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069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C68A"/>
                </a:solidFill>
              </a:rPr>
              <a:t>SMBus 프로토콜: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4434840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Write: [SlaveAddr W] [0x00] [Byte0 ~ Byte7] (8 bytes block write)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736592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Read:  [SlaveAddr W] [0x00] [SlaveAddr R] [8 bytes block read]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038344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Live Mode OFF: 변경 누적 -&gt; Write 버튼으로 일괄 전송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340096"/>
            <a:ext cx="6400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Live Mode ON:  설정 변경 즉시 SMBus Block Write 실행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ADS1018 ADC 모니터  —  모듈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4-Channel 12-bit SPI ADC Real-time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097280"/>
            <a:ext cx="7863840" cy="51206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530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ADS1018 탭 전체 (4채널 실시간 ADC 파형, CH0=전압/CH1=전류 모드)]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3611880" cy="329184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64008" cy="3291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197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ADC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1527048"/>
            <a:ext cx="3520440" cy="101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81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PGA (게인): +/-6.144V ~ +/-0.256V (6단계)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8562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Data Rate: 128 ~ 3300 SPS (7단계)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30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Mode: Continuous / Single-shot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4048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Sensor: ADC / 내장 온도 센서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679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CS Pin: ADBUS3 ~ ADBUS7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535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Pull-up 체크박스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2278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Window: 10 ~ 600초 (슬라이딩 버퍼)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5021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Auto Range: Y축 자동 스케일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3611880" cy="205740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64008" cy="2057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626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채널 설정 (CH0~CH3)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" y="4956048"/>
            <a:ext cx="352044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5010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CH0 ~ CH3 각각 독립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52852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 모드: 전압 측정 (V)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559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I 모드: 전류 측정 (mA)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58338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I 모드 시: R(션트저항) + G(게인)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108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예: R=0.02Ohm, G=100 -&gt; 1mV = 0.5mA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ADS1018  —  기술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Config Register &amp; Channel Conversion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Config Register 구조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0972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전압/전류 변환 공식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56692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Bits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554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74520"/>
            <a:ext cx="5669280" cy="301752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892808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[15]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189280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1892808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Single-shot 변환 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5669280" cy="301752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194560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[14:12]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19456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194560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입력 채널/차동 쌍 선택 (AIN0~3)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78024"/>
            <a:ext cx="5669280" cy="301752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49631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[11:9]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249631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PGA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2496312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프로그래머블 게인 설정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779776"/>
            <a:ext cx="5669280" cy="301752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798064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[8]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2798064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2798064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Continuous / Single-shot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81528"/>
            <a:ext cx="5669280" cy="301752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099816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[7:5]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099816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DR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3099816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데이터 레이트 (128~3300 SPS)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83280"/>
            <a:ext cx="5669280" cy="301752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401568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[4]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3401568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TS_MODE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401568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ADC (0) / 온도 센서 (1)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685032"/>
            <a:ext cx="5669280" cy="301752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703320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[3]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3703320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PULL_UP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703320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DOUT 풀업 활성화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986784"/>
            <a:ext cx="5669280" cy="301752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00507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[2:1]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4005072"/>
            <a:ext cx="1188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NOP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005072"/>
            <a:ext cx="33832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No-op (필수값: 0b01)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1554480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전압 모드: V = raw_12bit * LSB_mV / 1000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1856232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PGA +/-2.048V 기준: LSB = 1.0 mV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2157984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PGA +/-0.256V 기준: LSB = 0.125 mV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2569464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전류 모드: I = V / (R_shunt * Gain)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2871216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예) R=0.02Ohm, G=100 -&gt; 1mV = 0.5 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317296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채널별 독립 V/I 혼합 사용 가능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358444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SPI 프로토콜: CPOL=0, CPHA=1 (Mode 1)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886200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Config Register: 16-bit 쓰기/읽기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187952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Throughput: 4채널 = 실질 약 825 SPS/ch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66360"/>
            <a:ext cx="11612880" cy="1463040"/>
          </a:xfrm>
          <a:prstGeom prst="rect">
            <a:avLst/>
          </a:prstGeom>
          <a:solidFill>
            <a:srgbClr val="2B2F42"/>
          </a:solidFill>
          <a:ln w="15240">
            <a:solidFill>
              <a:srgbClr val="3A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5770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</a:rPr>
              <a:t>[스크린샷: 4채널 pyqtgraph 파형 - 각 채널 고유 색상, 측정값 메트릭 카드 표시]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4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트러블슈팅 &amp; 주의사항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21792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0C0"/>
                </a:solidFill>
              </a:rPr>
              <a:t>Troubleshooting &amp; Important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73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058"/>
                </a:solidFill>
              </a:rPr>
              <a:t>Universal Device Studio  v1.0.0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840480" cy="347472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연결 문제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81328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E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45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050"/>
                </a:solidFill>
              </a:rPr>
              <a:t>Scan 후 목록 비어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65376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D2XX 드라이버 미설치 또는 VCP 드라이버 충돌. 드라이버 재설치 후 장치 관리자 확인.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79776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E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43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050"/>
                </a:solidFill>
              </a:rPr>
              <a:t>모듈 탭 미표시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63824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의존성 패키지 누락 (ModuleNotFoundError). 콘솔 로그 확인 후 pip install 재실행.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78224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E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42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5050"/>
                </a:solidFill>
              </a:rPr>
              <a:t>FT4232H에서 I2C/SPI 미동작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6227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C/D 채널은 MPSSE 미지원. A 또는 B 채널로 변경 후 재연결.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1097280"/>
            <a:ext cx="3840480" cy="347472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097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통신 주의사항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481328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545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</a:rPr>
              <a:t>UART 탭 이탈 시 포트 닫힘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1865376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의도된 동작: 다른 탭 전환 시 COM 포트 자동 닫힘 + FTDI MPSSE 복원.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2779776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2843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</a:rPr>
              <a:t>I2C 주소 입력 형식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163824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7비트 주소 입력 (0x40 등). 내부에서 &lt;&lt;1 시프트 자동 처리. 8비트 입력 금지.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4078224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4142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C040"/>
                </a:solidFill>
              </a:rPr>
              <a:t>GPIO Hold와 I2C 충돌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46227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INA228 모니터링 중 D4~D7 Hold가 SDA/SCL에 영향 가능. Hold 핀 확인 필수.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1097280"/>
            <a:ext cx="3840480" cy="347472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10972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성능 &amp; 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1481328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15453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INA228 0-스파이크 필터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1865376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이전 유효값이 비영인데 새 값이 0이면 자동 스킵 (노이즈 제거 목적).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66176" y="2779776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2843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pyqtgraph 버퍼 한계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163824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최대 2000 포인트 슬라이딩. Window(초) 줄이면 해상도 향상.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6176" y="4078224"/>
            <a:ext cx="3840480" cy="1234440"/>
          </a:xfrm>
          <a:prstGeom prst="rect">
            <a:avLst/>
          </a:prstGeom>
          <a:solidFill>
            <a:srgbClr val="242838"/>
          </a:solidFill>
          <a:ln w="1016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4142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한글 소스 인코딩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446227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소스 수정 시 한글은 \uXXXX 유니코드 이스케이프 사용 권장 (CP949 오염 방지).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120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Quick Reference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532120"/>
            <a:ext cx="219456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장치 연결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532120"/>
            <a:ext cx="9326880" cy="274320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Scan -&gt; 장치 선택 -&gt; 채널 선택 -&gt; Connect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824728"/>
            <a:ext cx="219456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5824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I2C 스캔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5824728"/>
            <a:ext cx="9326880" cy="274320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5824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FTDI Verifier -&gt; I2C -&gt; Bus Scan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117336"/>
            <a:ext cx="219456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173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전력 모니터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8880" y="6117336"/>
            <a:ext cx="9326880" cy="274320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61173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INA228 -&gt; Scan Addresses -&gt; Start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409944"/>
            <a:ext cx="219456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4099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클럭 설정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6409944"/>
            <a:ext cx="9326880" cy="274320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0" y="64099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PI6CG18201 -&gt; Read -&gt; 수정 -&gt; Write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702552"/>
            <a:ext cx="2194560" cy="2743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702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F2E"/>
                </a:solidFill>
              </a:rPr>
              <a:t>ADC 측정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6702552"/>
            <a:ext cx="9326880" cy="274320"/>
          </a:xfrm>
          <a:prstGeom prst="rect">
            <a:avLst/>
          </a:prstGeom>
          <a:solidFill>
            <a:srgbClr val="2B2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67025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ADS1018 -&gt; 채널 설정 -&gt;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