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6" r:id="rId4"/>
  </p:sldMasterIdLst>
  <p:notesMasterIdLst>
    <p:notesMasterId r:id="rId12"/>
  </p:notesMasterIdLst>
  <p:handoutMasterIdLst>
    <p:handoutMasterId r:id="rId13"/>
  </p:handoutMasterIdLst>
  <p:sldIdLst>
    <p:sldId id="366" r:id="rId5"/>
    <p:sldId id="371" r:id="rId6"/>
    <p:sldId id="374" r:id="rId7"/>
    <p:sldId id="376" r:id="rId8"/>
    <p:sldId id="377" r:id="rId9"/>
    <p:sldId id="375" r:id="rId10"/>
    <p:sldId id="304" r:id="rId11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C32"/>
    <a:srgbClr val="A0C8FC"/>
    <a:srgbClr val="B6CEFE"/>
    <a:srgbClr val="C0CEFB"/>
    <a:srgbClr val="C0D1FB"/>
    <a:srgbClr val="C5D1FB"/>
    <a:srgbClr val="C3D0FD"/>
    <a:srgbClr val="D6C5F9"/>
    <a:srgbClr val="A1C9FD"/>
    <a:srgbClr val="C8CF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42" autoAdjust="0"/>
    <p:restoredTop sz="91552" autoAdjust="0"/>
  </p:normalViewPr>
  <p:slideViewPr>
    <p:cSldViewPr snapToGrid="0" snapToObjects="1">
      <p:cViewPr varScale="1">
        <p:scale>
          <a:sx n="186" d="100"/>
          <a:sy n="186" d="100"/>
        </p:scale>
        <p:origin x="960" y="134"/>
      </p:cViewPr>
      <p:guideLst>
        <p:guide pos="3701"/>
        <p:guide orient="horz" pos="21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41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3/9/2026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651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304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957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609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A588C-AC71-EF45-BBF1-9C65B4BC4C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9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A588C-AC71-EF45-BBF1-9C65B4BC4C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52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A588C-AC71-EF45-BBF1-9C65B4BC4C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47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A588C-AC71-EF45-BBF1-9C65B4BC4C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358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CA588C-AC71-EF45-BBF1-9C65B4BC4C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88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30A2EEB2-9A78-8F48-851C-0752E020A4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72" y="182879"/>
            <a:ext cx="2978329" cy="914400"/>
          </a:xfrm>
          <a:prstGeom prst="rect">
            <a:avLst/>
          </a:prstGeom>
        </p:spPr>
      </p:pic>
      <p:sp>
        <p:nvSpPr>
          <p:cNvPr id="16" name="标题 1">
            <a:extLst>
              <a:ext uri="{FF2B5EF4-FFF2-40B4-BE49-F238E27FC236}">
                <a16:creationId xmlns:a16="http://schemas.microsoft.com/office/drawing/2014/main" id="{3A4D3EE4-8044-452A-8196-068F74908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1414463"/>
            <a:ext cx="5118100" cy="13541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副标题 2">
            <a:extLst>
              <a:ext uri="{FF2B5EF4-FFF2-40B4-BE49-F238E27FC236}">
                <a16:creationId xmlns:a16="http://schemas.microsoft.com/office/drawing/2014/main" id="{79F951E7-4E6C-4B92-B145-85F435EC6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571876"/>
            <a:ext cx="5118101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21768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6F057212-0376-5243-930C-53EBF30C3E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 flipV="1">
            <a:off x="152396" y="2535382"/>
            <a:ext cx="12044366" cy="432261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2BA4DCC-0A45-6342-BB81-04F1205E1772}"/>
              </a:ext>
            </a:extLst>
          </p:cNvPr>
          <p:cNvSpPr/>
          <p:nvPr userDrawn="1"/>
        </p:nvSpPr>
        <p:spPr>
          <a:xfrm rot="10800000">
            <a:off x="0" y="-8339"/>
            <a:ext cx="12196762" cy="6874678"/>
          </a:xfrm>
          <a:prstGeom prst="rect">
            <a:avLst/>
          </a:prstGeom>
          <a:gradFill>
            <a:gsLst>
              <a:gs pos="42000">
                <a:srgbClr val="FFFFFF"/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57D1FB0-23AC-BB46-88EF-5191D39248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6" name="内容占位符 11">
            <a:extLst>
              <a:ext uri="{FF2B5EF4-FFF2-40B4-BE49-F238E27FC236}">
                <a16:creationId xmlns:a16="http://schemas.microsoft.com/office/drawing/2014/main" id="{809A1E08-DA42-E94D-8298-2BEDC64F44D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4" y="1454674"/>
            <a:ext cx="10865685" cy="4792304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EB7F9A0-B5F5-9141-9996-E8FE088E0E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5" y="295275"/>
            <a:ext cx="9078079" cy="115106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BE1AF9DB-29CC-4137-9743-A5A4EAE67B2C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96BE9BAA-687D-415B-B770-4F77D2B645B1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E567E834-1690-4B10-960F-8147BBABA77A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03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593D64E-B0D4-D140-B108-034D384343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0" name="内容占位符 11">
            <a:extLst>
              <a:ext uri="{FF2B5EF4-FFF2-40B4-BE49-F238E27FC236}">
                <a16:creationId xmlns:a16="http://schemas.microsoft.com/office/drawing/2014/main" id="{667B28BE-E999-384A-B0F2-86792612D45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5" y="1454674"/>
            <a:ext cx="10913310" cy="4792304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C88ACA2-F072-3144-A332-EB6C7D1C1BC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7" y="304800"/>
            <a:ext cx="9078078" cy="114756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6" name="TextBox 2">
            <a:extLst>
              <a:ext uri="{FF2B5EF4-FFF2-40B4-BE49-F238E27FC236}">
                <a16:creationId xmlns:a16="http://schemas.microsoft.com/office/drawing/2014/main" id="{8BB58026-66C1-4D4D-9EEF-4F24F04D84FB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8094FAB4-AC23-4751-B472-05B02AD8FBEF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73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0DC6A9F-FCB7-B841-9D8C-99A7202B7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793E07D-6FE3-4D48-BFD5-B42EFC93CD27}"/>
              </a:ext>
            </a:extLst>
          </p:cNvPr>
          <p:cNvSpPr/>
          <p:nvPr userDrawn="1"/>
        </p:nvSpPr>
        <p:spPr>
          <a:xfrm>
            <a:off x="0" y="1915969"/>
            <a:ext cx="12196763" cy="4942031"/>
          </a:xfrm>
          <a:prstGeom prst="rect">
            <a:avLst/>
          </a:prstGeom>
          <a:gradFill>
            <a:gsLst>
              <a:gs pos="100000">
                <a:schemeClr val="tx1">
                  <a:lumMod val="0"/>
                </a:schemeClr>
              </a:gs>
              <a:gs pos="26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9A3B1516-D590-994D-AA0B-A8328E07466F}"/>
              </a:ext>
            </a:extLst>
          </p:cNvPr>
          <p:cNvSpPr/>
          <p:nvPr userDrawn="1"/>
        </p:nvSpPr>
        <p:spPr>
          <a:xfrm>
            <a:off x="0" y="0"/>
            <a:ext cx="3083170" cy="685800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82312C41-B052-2B4B-B15D-A9EC4DB87ABE}"/>
              </a:ext>
            </a:extLst>
          </p:cNvPr>
          <p:cNvSpPr/>
          <p:nvPr userDrawn="1"/>
        </p:nvSpPr>
        <p:spPr>
          <a:xfrm>
            <a:off x="1921668" y="3774831"/>
            <a:ext cx="1386109" cy="308317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C273EF-4387-D14B-B75D-30B325ADE7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8467" y="2661041"/>
            <a:ext cx="3627773" cy="111379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4EE2194-0145-7545-97D3-C137944502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26" y="4475069"/>
            <a:ext cx="9705369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281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8" y="6315192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74" b="0" i="0" u="none" strike="noStrike" kern="1200" cap="none" spc="0" normalizeH="0" baseline="0" noProof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74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06A0A94-895E-7946-B29E-9CB2C8F1C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0217" y="207300"/>
            <a:ext cx="742283" cy="695154"/>
          </a:xfrm>
          <a:prstGeom prst="rect">
            <a:avLst/>
          </a:prstGeom>
        </p:spPr>
      </p:pic>
      <p:sp>
        <p:nvSpPr>
          <p:cNvPr id="11" name="内容占位符 11"/>
          <p:cNvSpPr>
            <a:spLocks noGrp="1"/>
          </p:cNvSpPr>
          <p:nvPr>
            <p:ph sz="quarter" idx="11"/>
          </p:nvPr>
        </p:nvSpPr>
        <p:spPr>
          <a:xfrm>
            <a:off x="1041400" y="1247746"/>
            <a:ext cx="9705370" cy="4792304"/>
          </a:xfrm>
          <a:prstGeom prst="rect">
            <a:avLst/>
          </a:prstGeom>
        </p:spPr>
        <p:txBody>
          <a:bodyPr/>
          <a:lstStyle>
            <a:lvl1pPr marL="265007" indent="-265007">
              <a:lnSpc>
                <a:spcPct val="130000"/>
              </a:lnSpc>
              <a:buFont typeface="Arial" panose="020B0604020202020204" pitchFamily="34" charset="0"/>
              <a:buChar char="•"/>
              <a:defRPr sz="1999">
                <a:solidFill>
                  <a:schemeClr val="tx1"/>
                </a:solidFill>
                <a:latin typeface="+mj-lt"/>
              </a:defRPr>
            </a:lvl1pPr>
            <a:lvl2pPr marL="542708" indent="-27770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799">
                <a:solidFill>
                  <a:schemeClr val="tx1"/>
                </a:solidFill>
                <a:latin typeface="+mj-lt"/>
              </a:defRPr>
            </a:lvl2pPr>
            <a:lvl3pPr marL="807715" indent="-265007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99">
                <a:solidFill>
                  <a:schemeClr val="tx1"/>
                </a:solidFill>
                <a:latin typeface="+mj-lt"/>
              </a:defRPr>
            </a:lvl3pPr>
            <a:lvl4pPr marL="1072721" indent="-265007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99">
                <a:solidFill>
                  <a:schemeClr val="tx1"/>
                </a:solidFill>
                <a:latin typeface="+mj-lt"/>
              </a:defRPr>
            </a:lvl4pPr>
            <a:lvl5pPr marL="1999450" indent="-17138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4EE2194-0145-7545-97D3-C137944502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41401" y="406400"/>
            <a:ext cx="9705369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9103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601" y="0"/>
            <a:ext cx="9796272" cy="6858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3D8AD282-B2FF-9241-9A45-D19C23714030}"/>
              </a:ext>
            </a:extLst>
          </p:cNvPr>
          <p:cNvSpPr/>
          <p:nvPr userDrawn="1"/>
        </p:nvSpPr>
        <p:spPr>
          <a:xfrm>
            <a:off x="153898" y="163626"/>
            <a:ext cx="12042865" cy="65307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06A0A94-895E-7946-B29E-9CB2C8F1C9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3855" y="385225"/>
            <a:ext cx="742283" cy="69515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93BC936-E325-1943-BF7B-54B02A9D3D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46769" y="394093"/>
            <a:ext cx="1009472" cy="27616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BDF2966D-0EA4-1043-A1D3-4D8030CF4925}"/>
              </a:ext>
            </a:extLst>
          </p:cNvPr>
          <p:cNvSpPr txBox="1"/>
          <p:nvPr userDrawn="1"/>
        </p:nvSpPr>
        <p:spPr>
          <a:xfrm>
            <a:off x="10146008" y="6315192"/>
            <a:ext cx="1610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t>JCET Group Confidential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9784671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9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kumimoji="0" lang="en-US" sz="974" b="0" i="0" u="none" strike="noStrike" kern="1200" cap="none" spc="0" normalizeH="0" baseline="0" noProof="0" smtClean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rPr>
              <a:pPr marL="0" marR="0" lvl="0" indent="0" algn="l" defTabSz="89049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74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8" name="内容占位符 11"/>
          <p:cNvSpPr>
            <a:spLocks noGrp="1"/>
          </p:cNvSpPr>
          <p:nvPr>
            <p:ph sz="quarter" idx="11"/>
          </p:nvPr>
        </p:nvSpPr>
        <p:spPr>
          <a:xfrm>
            <a:off x="1220805" y="1412443"/>
            <a:ext cx="9525965" cy="4792304"/>
          </a:xfrm>
          <a:prstGeom prst="rect">
            <a:avLst/>
          </a:prstGeom>
        </p:spPr>
        <p:txBody>
          <a:bodyPr/>
          <a:lstStyle>
            <a:lvl1pPr marL="265007" indent="-265007">
              <a:lnSpc>
                <a:spcPct val="130000"/>
              </a:lnSpc>
              <a:buFont typeface="Arial" panose="020B0604020202020204" pitchFamily="34" charset="0"/>
              <a:buChar char="•"/>
              <a:defRPr sz="1999">
                <a:solidFill>
                  <a:schemeClr val="tx1"/>
                </a:solidFill>
                <a:latin typeface="+mj-lt"/>
              </a:defRPr>
            </a:lvl1pPr>
            <a:lvl2pPr marL="542708" indent="-277702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799">
                <a:solidFill>
                  <a:schemeClr val="tx1"/>
                </a:solidFill>
                <a:latin typeface="+mj-lt"/>
              </a:defRPr>
            </a:lvl2pPr>
            <a:lvl3pPr marL="807715" indent="-265007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99">
                <a:solidFill>
                  <a:schemeClr val="tx1"/>
                </a:solidFill>
                <a:latin typeface="+mj-lt"/>
              </a:defRPr>
            </a:lvl3pPr>
            <a:lvl4pPr marL="1072721" indent="-265007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399">
                <a:solidFill>
                  <a:schemeClr val="tx1"/>
                </a:solidFill>
                <a:latin typeface="+mj-lt"/>
              </a:defRPr>
            </a:lvl4pPr>
            <a:lvl5pPr marL="1999450" indent="-17138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D4EE2194-0145-7545-97D3-C137944502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20805" y="571097"/>
            <a:ext cx="9525965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799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55511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C8A41D1-633B-324D-9483-2BC7619B99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96763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6DB052A-220C-42BC-8598-06BE4C46BEEE}"/>
              </a:ext>
            </a:extLst>
          </p:cNvPr>
          <p:cNvSpPr/>
          <p:nvPr userDrawn="1"/>
        </p:nvSpPr>
        <p:spPr>
          <a:xfrm>
            <a:off x="0" y="6750539"/>
            <a:ext cx="12196763" cy="10746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98701">
                <a:schemeClr val="tx2"/>
              </a:gs>
              <a:gs pos="70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AA9B1FE-4507-3E4F-9F4C-FE673F12A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7" t="-164" r="4877" b="164"/>
          <a:stretch/>
        </p:blipFill>
        <p:spPr>
          <a:xfrm>
            <a:off x="-1" y="-19631"/>
            <a:ext cx="12196764" cy="68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6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5" r:id="rId2"/>
    <p:sldLayoutId id="2147484591" r:id="rId3"/>
    <p:sldLayoutId id="2147484623" r:id="rId4"/>
    <p:sldLayoutId id="2147484624" r:id="rId5"/>
    <p:sldLayoutId id="2147484625" r:id="rId6"/>
    <p:sldLayoutId id="214748462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-1" y="1414463"/>
            <a:ext cx="8487697" cy="1354137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b="1" dirty="0"/>
              <a:t>	</a:t>
            </a:r>
            <a:r>
              <a:rPr lang="en-US" altLang="zh-CN" b="1" dirty="0" err="1" smtClean="0"/>
              <a:t>UniversaDevice</a:t>
            </a:r>
            <a:r>
              <a:rPr lang="en-US" altLang="zh-CN" b="1" dirty="0" smtClean="0"/>
              <a:t> </a:t>
            </a:r>
            <a:r>
              <a:rPr lang="en-US" altLang="zh-CN" b="1" dirty="0"/>
              <a:t>Studio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4294967295"/>
          </p:nvPr>
        </p:nvSpPr>
        <p:spPr>
          <a:xfrm>
            <a:off x="0" y="3571875"/>
            <a:ext cx="5118100" cy="1655763"/>
          </a:xfrm>
          <a:prstGeom prst="rect">
            <a:avLst/>
          </a:prstGeom>
        </p:spPr>
        <p:txBody>
          <a:bodyPr/>
          <a:lstStyle/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</a:t>
            </a:r>
            <a:r>
              <a:rPr lang="en-US" altLang="zh-CN" sz="2400" dirty="0" smtClean="0"/>
              <a:t>RF LAB2</a:t>
            </a:r>
          </a:p>
          <a:p>
            <a:pPr marL="0" indent="0">
              <a:buNone/>
            </a:pPr>
            <a:r>
              <a:rPr lang="en-US" altLang="zh-CN" sz="2400" dirty="0" smtClean="0"/>
              <a:t>	</a:t>
            </a:r>
            <a:r>
              <a:rPr lang="en-US" altLang="zh-CN" sz="2400" dirty="0" smtClean="0"/>
              <a:t>2026.03.09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98588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>
          <a:xfrm>
            <a:off x="697664" y="973014"/>
            <a:ext cx="10865685" cy="4792304"/>
          </a:xfrm>
        </p:spPr>
        <p:txBody>
          <a:bodyPr/>
          <a:lstStyle/>
          <a:p>
            <a:r>
              <a:rPr lang="en-US" altLang="ko-KR" sz="1200" dirty="0"/>
              <a:t>Universal Device Studio(UDS)</a:t>
            </a:r>
            <a:r>
              <a:rPr lang="ko-KR" altLang="en-US" sz="1200" dirty="0"/>
              <a:t>는 </a:t>
            </a:r>
            <a:r>
              <a:rPr lang="en-US" altLang="ko-KR" sz="1200" dirty="0"/>
              <a:t>FT232H USB </a:t>
            </a:r>
            <a:r>
              <a:rPr lang="ko-KR" altLang="en-US" sz="1200" dirty="0"/>
              <a:t>인터페이스를 통해 다양한 하드웨어 디바이스를 통합 관리하는 </a:t>
            </a:r>
            <a:r>
              <a:rPr lang="en-US" altLang="ko-KR" sz="1200" dirty="0"/>
              <a:t>PC </a:t>
            </a:r>
            <a:r>
              <a:rPr lang="ko-KR" altLang="en-US" sz="1200" dirty="0"/>
              <a:t>기반 테스트 툴입니다</a:t>
            </a:r>
            <a:r>
              <a:rPr lang="en-US" altLang="ko-KR" sz="1200" dirty="0"/>
              <a:t>.</a:t>
            </a:r>
            <a:endParaRPr lang="en-US" altLang="ko-KR" sz="1200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Overview</a:t>
            </a:r>
            <a:endParaRPr lang="zh-CN" altLang="en-US" dirty="0"/>
          </a:p>
        </p:txBody>
      </p:sp>
      <p:sp>
        <p:nvSpPr>
          <p:cNvPr id="10" name="Rectangle 8"/>
          <p:cNvSpPr/>
          <p:nvPr/>
        </p:nvSpPr>
        <p:spPr>
          <a:xfrm>
            <a:off x="1002503" y="1408969"/>
            <a:ext cx="3343720" cy="2716935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8223" y="1463833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4A90E2"/>
                </a:solidFill>
              </a:rPr>
              <a:t>핵심</a:t>
            </a:r>
            <a:r>
              <a:rPr sz="1200" b="1" i="0" dirty="0">
                <a:solidFill>
                  <a:srgbClr val="4A90E2"/>
                </a:solidFill>
              </a:rPr>
              <a:t> </a:t>
            </a:r>
            <a:r>
              <a:rPr sz="1200" b="1" i="0" dirty="0" err="1">
                <a:solidFill>
                  <a:srgbClr val="4A90E2"/>
                </a:solidFill>
              </a:rPr>
              <a:t>기능</a:t>
            </a:r>
            <a:endParaRPr sz="1200" b="1" i="0" dirty="0">
              <a:solidFill>
                <a:srgbClr val="4A90E2"/>
              </a:solidFill>
            </a:endParaRPr>
          </a:p>
        </p:txBody>
      </p:sp>
      <p:sp>
        <p:nvSpPr>
          <p:cNvPr id="15" name="Rectangle 11"/>
          <p:cNvSpPr/>
          <p:nvPr/>
        </p:nvSpPr>
        <p:spPr>
          <a:xfrm>
            <a:off x="1002503" y="1793016"/>
            <a:ext cx="3283512" cy="45719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8223" y="184788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I2C 버스 스캔 및 ACK/NACK 테스트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223" y="212220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SPI Probe + Device ID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8223" y="239652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JTAG TAP 상태 머신 다이어그램 시각화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223" y="267084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UART 시리얼 터미널 (COM 포트 자동 감지)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8223" y="294516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GPIO Bit-Bang 폴링 및 레벨 제어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8223" y="321948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INA228 전압/전류/전력 실시간 모니터링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8223" y="349380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PI6CG18201 클럭 제너레이터 레지스터 제어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8223" y="3768121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ADS1018 4채널 12-bit ADC 시각화</a:t>
            </a: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635" y="4319686"/>
            <a:ext cx="2602477" cy="193542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409" y="4326801"/>
            <a:ext cx="2592911" cy="19283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9" name="그림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500" y="4321831"/>
            <a:ext cx="2599594" cy="193327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그림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03" y="4321831"/>
            <a:ext cx="2599594" cy="19332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9" name="Rectangle 17"/>
          <p:cNvSpPr/>
          <p:nvPr/>
        </p:nvSpPr>
        <p:spPr>
          <a:xfrm>
            <a:off x="4524862" y="1408969"/>
            <a:ext cx="3412245" cy="2716935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52294" y="1463833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지원 FTDI 칩셋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52294" y="184788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E0E0E0"/>
                </a:solidFill>
              </a:rPr>
              <a:t>  &gt; FT232H  —  1채널 MPSSE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2294" y="212220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FT2232H  —  2채널 (A/B: MPSSE)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52294" y="239652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FT4232H  —  4채널 (A/B: MPSSE, C/D: GPIO)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52294" y="267084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자동 칩 감지 및 채널 구성 자동 적용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2294" y="294516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C/D 채널: I2C/SPI/JTAG 비활성화 (GPIO only)</a:t>
            </a:r>
          </a:p>
        </p:txBody>
      </p:sp>
      <p:sp>
        <p:nvSpPr>
          <p:cNvPr id="58" name="Rectangle 26"/>
          <p:cNvSpPr/>
          <p:nvPr/>
        </p:nvSpPr>
        <p:spPr>
          <a:xfrm>
            <a:off x="8142338" y="1412807"/>
            <a:ext cx="3840480" cy="2713097"/>
          </a:xfrm>
          <a:prstGeom prst="rect">
            <a:avLst/>
          </a:prstGeom>
          <a:solidFill>
            <a:srgbClr val="242838"/>
          </a:solidFill>
          <a:ln w="12700">
            <a:solidFill>
              <a:srgbClr val="3CC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252066" y="146767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C68A"/>
                </a:solidFill>
              </a:rPr>
              <a:t>지원 디바이스 모듈</a:t>
            </a:r>
          </a:p>
        </p:txBody>
      </p:sp>
      <p:sp>
        <p:nvSpPr>
          <p:cNvPr id="61" name="Rectangle 29"/>
          <p:cNvSpPr/>
          <p:nvPr/>
        </p:nvSpPr>
        <p:spPr>
          <a:xfrm>
            <a:off x="8157755" y="1796854"/>
            <a:ext cx="3749040" cy="45719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52066" y="18517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FTDI Verifier  —  프로토콜 검증 도구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52066" y="21260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E0E0E0"/>
                </a:solidFill>
              </a:rPr>
              <a:t>  &gt; INA228  —  </a:t>
            </a:r>
            <a:r>
              <a:rPr sz="1050" b="0" i="0" dirty="0" err="1">
                <a:solidFill>
                  <a:srgbClr val="E0E0E0"/>
                </a:solidFill>
              </a:rPr>
              <a:t>전력</a:t>
            </a:r>
            <a:r>
              <a:rPr sz="1050" b="0" i="0" dirty="0">
                <a:solidFill>
                  <a:srgbClr val="E0E0E0"/>
                </a:solidFill>
              </a:rPr>
              <a:t> </a:t>
            </a:r>
            <a:r>
              <a:rPr sz="1050" b="0" i="0" dirty="0" err="1">
                <a:solidFill>
                  <a:srgbClr val="E0E0E0"/>
                </a:solidFill>
              </a:rPr>
              <a:t>측정</a:t>
            </a:r>
            <a:r>
              <a:rPr sz="1050" b="0" i="0" dirty="0">
                <a:solidFill>
                  <a:srgbClr val="E0E0E0"/>
                </a:solidFill>
              </a:rPr>
              <a:t> (I2C)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52066" y="24003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PI6CG18201  —  클럭 제너레이터 (SMBus)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52066" y="267467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ADS1018  —  12-bit ADC (SPI)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52066" y="294899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플러그인 구조: 모듈 추가/제거 용이</a:t>
            </a:r>
          </a:p>
        </p:txBody>
      </p:sp>
      <p:sp>
        <p:nvSpPr>
          <p:cNvPr id="68" name="Rectangle 20"/>
          <p:cNvSpPr/>
          <p:nvPr/>
        </p:nvSpPr>
        <p:spPr>
          <a:xfrm>
            <a:off x="4551454" y="1791773"/>
            <a:ext cx="3290561" cy="45719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3920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FTDI Verifier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963" y="786384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/>
              <a:t>Hardware Verification Tool | I2C / SPI / JTAG / UART / GPIO</a:t>
            </a:r>
          </a:p>
        </p:txBody>
      </p:sp>
      <p:sp>
        <p:nvSpPr>
          <p:cNvPr id="49" name="Rectangle 9"/>
          <p:cNvSpPr/>
          <p:nvPr/>
        </p:nvSpPr>
        <p:spPr>
          <a:xfrm>
            <a:off x="667210" y="1367028"/>
            <a:ext cx="3615041" cy="2713999"/>
          </a:xfrm>
          <a:prstGeom prst="rect">
            <a:avLst/>
          </a:prstGeom>
          <a:solidFill>
            <a:srgbClr val="242838"/>
          </a:solidFill>
          <a:ln w="12700">
            <a:solidFill>
              <a:srgbClr val="4A9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2930" y="14218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90E2"/>
                </a:solidFill>
              </a:rPr>
              <a:t>주요 기능</a:t>
            </a:r>
          </a:p>
        </p:txBody>
      </p:sp>
      <p:sp>
        <p:nvSpPr>
          <p:cNvPr id="54" name="Rectangle 12"/>
          <p:cNvSpPr/>
          <p:nvPr/>
        </p:nvSpPr>
        <p:spPr>
          <a:xfrm>
            <a:off x="667210" y="1751075"/>
            <a:ext cx="3615041" cy="45719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2930" y="18059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실시간 핀아웃 시각화 (hover/click 인터랙션)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2930" y="20802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I2C Bus Scan (0x08~0x77, 이력 테이블)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2930" y="23545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SPI Probe + Device ID 검증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2930" y="26289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JTAG TAP 상태 머신 다이어그램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2930" y="29032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UART 터미널 (pyserial 기반 COM 포트)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2930" y="31775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E0E0E0"/>
                </a:solidFill>
              </a:rPr>
              <a:t>  &gt; GPIO Bit-Bang </a:t>
            </a:r>
            <a:r>
              <a:rPr sz="1050" b="0" i="0" dirty="0" err="1">
                <a:solidFill>
                  <a:srgbClr val="E0E0E0"/>
                </a:solidFill>
              </a:rPr>
              <a:t>폴링</a:t>
            </a:r>
            <a:r>
              <a:rPr sz="1050" b="0" i="0" dirty="0">
                <a:solidFill>
                  <a:srgbClr val="E0E0E0"/>
                </a:solidFill>
              </a:rPr>
              <a:t> (50ms~10000ms)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2930" y="34518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채널 전환 시 칩 스펙 자동 재적용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2930" y="37261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&gt; FT4232H C/D: MPSSE 불가 구간 자동 비활성화</a:t>
            </a:r>
          </a:p>
        </p:txBody>
      </p:sp>
      <p:pic>
        <p:nvPicPr>
          <p:cNvPr id="96" name="그림 9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09" y="4145035"/>
            <a:ext cx="3615041" cy="26604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696" y="1354687"/>
            <a:ext cx="2298934" cy="23670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626" y="1367028"/>
            <a:ext cx="2211285" cy="2359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439" y="4148146"/>
            <a:ext cx="2298934" cy="26520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0260" y="1362404"/>
            <a:ext cx="2183488" cy="23637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0369" y="4148147"/>
            <a:ext cx="2330457" cy="26573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5939283" y="1254312"/>
            <a:ext cx="841248" cy="384048"/>
          </a:xfrm>
          <a:prstGeom prst="round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39283" y="1254312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1A1F2E"/>
                </a:solidFill>
              </a:rPr>
              <a:t>I2C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9848" y="1254312"/>
            <a:ext cx="841248" cy="384048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9848" y="1254312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SPI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35026" y="4063401"/>
            <a:ext cx="841248" cy="384048"/>
          </a:xfrm>
          <a:prstGeom prst="roundRect">
            <a:avLst/>
          </a:prstGeom>
          <a:solidFill>
            <a:srgbClr val="AA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35026" y="4063401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JTAG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47363" y="1254312"/>
            <a:ext cx="841248" cy="384048"/>
          </a:xfrm>
          <a:prstGeom prst="round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47363" y="1254312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UART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06164" y="4063401"/>
            <a:ext cx="841248" cy="384048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06164" y="4063401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F2E"/>
                </a:solidFill>
              </a:rPr>
              <a:t>GPIO</a:t>
            </a:r>
          </a:p>
        </p:txBody>
      </p:sp>
    </p:spTree>
    <p:extLst>
      <p:ext uri="{BB962C8B-B14F-4D97-AF65-F5344CB8AC3E}">
        <p14:creationId xmlns:p14="http://schemas.microsoft.com/office/powerpoint/2010/main" val="338877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INA228 </a:t>
            </a:r>
            <a:r>
              <a:rPr lang="en-US" altLang="zh-CN" dirty="0"/>
              <a:t>ADC Monitor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8963" y="786384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smtClean="0"/>
              <a:t>Voltage </a:t>
            </a:r>
            <a:r>
              <a:rPr lang="en-US" sz="1200" dirty="0"/>
              <a:t>&amp; Current Live Monitoring</a:t>
            </a:r>
          </a:p>
        </p:txBody>
      </p:sp>
      <p:sp>
        <p:nvSpPr>
          <p:cNvPr id="7" name="Rectangle 23"/>
          <p:cNvSpPr/>
          <p:nvPr/>
        </p:nvSpPr>
        <p:spPr>
          <a:xfrm>
            <a:off x="653008" y="1155468"/>
            <a:ext cx="4416552" cy="2359152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8728" y="12103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기술 세부사항</a:t>
            </a:r>
          </a:p>
        </p:txBody>
      </p:sp>
      <p:sp>
        <p:nvSpPr>
          <p:cNvPr id="10" name="Rectangle 26"/>
          <p:cNvSpPr/>
          <p:nvPr/>
        </p:nvSpPr>
        <p:spPr>
          <a:xfrm>
            <a:off x="653008" y="1539516"/>
            <a:ext cx="4389120" cy="1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8728" y="15943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슬라이딩 윈도우: 기본 60초, 최대 2000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728" y="18687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DIAG_ALRT[bit0] 폴링으로 변환 완료 감지 (CNVRF)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8728" y="21430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0-스파이크 필터: 이전값 비영에서 새값이 0이면 자동 스킵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728" y="24173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VSHUNT 변환: 3바이트 &gt;&gt; 4 (20-bit), Range0=312.5nV LSB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8728" y="269166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VBUS 변환: 3바이트 &gt;&gt; 4 (20-bit), LSB=195.3125uV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728" y="29659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E0E0E0"/>
                </a:solidFill>
              </a:rPr>
              <a:t>  &gt; DIETEMP </a:t>
            </a:r>
            <a:r>
              <a:rPr sz="1000" b="0" i="0" dirty="0" err="1">
                <a:solidFill>
                  <a:srgbClr val="E0E0E0"/>
                </a:solidFill>
              </a:rPr>
              <a:t>변환</a:t>
            </a:r>
            <a:r>
              <a:rPr sz="1000" b="0" i="0" dirty="0">
                <a:solidFill>
                  <a:srgbClr val="E0E0E0"/>
                </a:solidFill>
              </a:rPr>
              <a:t>: 2바이트, LSB=7.8125 m-</a:t>
            </a:r>
            <a:r>
              <a:rPr sz="1000" b="0" i="0" dirty="0" err="1">
                <a:solidFill>
                  <a:srgbClr val="E0E0E0"/>
                </a:solidFill>
              </a:rPr>
              <a:t>degC</a:t>
            </a:r>
            <a:endParaRPr sz="1000" b="0" i="0" dirty="0">
              <a:solidFill>
                <a:srgbClr val="E0E0E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8728" y="32403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Window 설정 (10~600s): 데이터 보존 구간 조절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704" y="1155467"/>
            <a:ext cx="6908310" cy="4244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742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ADS1018 ADC </a:t>
            </a:r>
            <a:r>
              <a:rPr lang="en-US" altLang="zh-CN" dirty="0" smtClean="0"/>
              <a:t>Monitor</a:t>
            </a:r>
            <a:endParaRPr lang="en-US" altLang="zh-CN" dirty="0"/>
          </a:p>
        </p:txBody>
      </p:sp>
      <p:sp>
        <p:nvSpPr>
          <p:cNvPr id="35" name="TextBox 34"/>
          <p:cNvSpPr txBox="1"/>
          <p:nvPr/>
        </p:nvSpPr>
        <p:spPr>
          <a:xfrm>
            <a:off x="588963" y="786384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4-Channel 12-bit SPI ADC Real-time Monitor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785" y="1126762"/>
            <a:ext cx="7642722" cy="469608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Rectangle 9"/>
          <p:cNvSpPr/>
          <p:nvPr/>
        </p:nvSpPr>
        <p:spPr>
          <a:xfrm>
            <a:off x="697665" y="1143000"/>
            <a:ext cx="3611880" cy="3291840"/>
          </a:xfrm>
          <a:prstGeom prst="rect">
            <a:avLst/>
          </a:prstGeom>
          <a:solidFill>
            <a:srgbClr val="242838"/>
          </a:solidFill>
          <a:ln w="1270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0"/>
          <p:cNvSpPr/>
          <p:nvPr/>
        </p:nvSpPr>
        <p:spPr>
          <a:xfrm>
            <a:off x="697665" y="1143000"/>
            <a:ext cx="64008" cy="3291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7393" y="1197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ADC 설정</a:t>
            </a:r>
          </a:p>
        </p:txBody>
      </p:sp>
      <p:sp>
        <p:nvSpPr>
          <p:cNvPr id="21" name="Rectangle 12"/>
          <p:cNvSpPr/>
          <p:nvPr/>
        </p:nvSpPr>
        <p:spPr>
          <a:xfrm>
            <a:off x="761673" y="1527048"/>
            <a:ext cx="3520440" cy="1016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7393" y="15819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PGA (게인): +/-6.144V ~ +/-0.256V (6단계)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393" y="18562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Data Rate: 128 ~ 3300 SPS (7단계)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393" y="2130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Mode: Continuous / Single-shot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393" y="24048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Sensor: ADC / 내장 온도 센서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393" y="26791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CS Pin: ADBUS3 ~ ADBUS7 선택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7393" y="29535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Pull-up 체크박스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393" y="32278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Window: 10 ~ 600초 (슬라이딩 버퍼)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393" y="35021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Auto Range: Y축 자동 스케일</a:t>
            </a:r>
          </a:p>
        </p:txBody>
      </p:sp>
      <p:sp>
        <p:nvSpPr>
          <p:cNvPr id="30" name="Rectangle 21"/>
          <p:cNvSpPr/>
          <p:nvPr/>
        </p:nvSpPr>
        <p:spPr>
          <a:xfrm>
            <a:off x="697665" y="4572000"/>
            <a:ext cx="3611880" cy="2057400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2"/>
          <p:cNvSpPr/>
          <p:nvPr/>
        </p:nvSpPr>
        <p:spPr>
          <a:xfrm>
            <a:off x="697665" y="4572000"/>
            <a:ext cx="64008" cy="20574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7393" y="46268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2FF"/>
                </a:solidFill>
              </a:rPr>
              <a:t>채널 설정 (CH0~CH3)</a:t>
            </a:r>
          </a:p>
        </p:txBody>
      </p:sp>
      <p:sp>
        <p:nvSpPr>
          <p:cNvPr id="33" name="Rectangle 24"/>
          <p:cNvSpPr/>
          <p:nvPr/>
        </p:nvSpPr>
        <p:spPr>
          <a:xfrm>
            <a:off x="761673" y="4956048"/>
            <a:ext cx="3520440" cy="10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7393" y="501091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CH0 ~ CH3 각각 독립 설정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393" y="528523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V 모드: 전압 측정 (V)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393" y="55595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I 모드: 전류 측정 (mA)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393" y="58338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I 모드 시: R(션트저항) + G(게인) 입력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393" y="61081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  &gt; 예: R=0.02Ohm, G=100 -&gt; 1mV = 0.5mA</a:t>
            </a:r>
          </a:p>
        </p:txBody>
      </p:sp>
    </p:spTree>
    <p:extLst>
      <p:ext uri="{BB962C8B-B14F-4D97-AF65-F5344CB8AC3E}">
        <p14:creationId xmlns:p14="http://schemas.microsoft.com/office/powerpoint/2010/main" val="425796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23"/>
          <p:cNvSpPr/>
          <p:nvPr/>
        </p:nvSpPr>
        <p:spPr>
          <a:xfrm>
            <a:off x="588962" y="1114953"/>
            <a:ext cx="4589903" cy="5203838"/>
          </a:xfrm>
          <a:prstGeom prst="rect">
            <a:avLst/>
          </a:prstGeom>
          <a:solidFill>
            <a:srgbClr val="242838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PI6CG18201 Clock Generator</a:t>
            </a:r>
            <a:endParaRPr lang="en-US" altLang="zh-CN" dirty="0"/>
          </a:p>
        </p:txBody>
      </p:sp>
      <p:sp>
        <p:nvSpPr>
          <p:cNvPr id="35" name="TextBox 34"/>
          <p:cNvSpPr txBox="1"/>
          <p:nvPr/>
        </p:nvSpPr>
        <p:spPr>
          <a:xfrm>
            <a:off x="588963" y="786384"/>
            <a:ext cx="10058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Programmable Differential Clock Generator Control</a:t>
            </a:r>
          </a:p>
        </p:txBody>
      </p:sp>
      <p:sp>
        <p:nvSpPr>
          <p:cNvPr id="32" name="Rectangle 7"/>
          <p:cNvSpPr/>
          <p:nvPr/>
        </p:nvSpPr>
        <p:spPr>
          <a:xfrm>
            <a:off x="588963" y="1142385"/>
            <a:ext cx="4561200" cy="347472"/>
          </a:xfrm>
          <a:prstGeom prst="rect">
            <a:avLst/>
          </a:prstGeom>
          <a:solidFill>
            <a:srgbClr val="3CC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8963" y="1142385"/>
            <a:ext cx="458990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2E"/>
                </a:solidFill>
              </a:rPr>
              <a:t>제어 패널 (Control Center)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8963" y="159958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Slave Address: 0x68 (SADR=L) / 0x6A (SADR=H)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8963" y="187390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Advanced Mode: 바이트/비트 매핑 힌트 표시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963" y="223966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Output Enable (OE):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963" y="251398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Q0 (Q0+/Q0-) 체크박스 - 청록색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963" y="278830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Q1 (Q1+/Q1-) 체크박스 - 분홍색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963" y="315406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Output Amplitude: 0.6V / 0.7V / 0.8V / 0.9V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8963" y="351982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C68A"/>
                </a:solidFill>
              </a:rPr>
              <a:t>Spread Spectrum (SS):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8963" y="379414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Auto (HW 핀 SS0/SS1 추종)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963" y="406846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Off / Weak (-0.25%) / Strong (-0.5%)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963" y="434278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  SS Readback 뱃지 (현재 HW 상태)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8963" y="470854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Slew Rate (Coarse): Both Slow ~ Both 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8963" y="498286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Slew Rate (Fine REF): Slow/Medium/Fast/Very Fast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8963" y="525718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Combined Level: 'Lv.8/15' 형식 표시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8963" y="562294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Live Mode: ON 시 설정 변경 즉시 I2C 전송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8963" y="589726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Read / Write 버튼 (수동 트리거)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317" y="1114953"/>
            <a:ext cx="6789420" cy="41422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0674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1999" dirty="0"/>
              <a:t>JCET Group</a:t>
            </a:r>
            <a:endParaRPr lang="zh-CN" altLang="en-US" sz="1999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4294967295"/>
          </p:nvPr>
        </p:nvSpPr>
        <p:spPr>
          <a:xfrm>
            <a:off x="8285163" y="4457700"/>
            <a:ext cx="3911600" cy="9144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RF Lab2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idx="4294967295"/>
          </p:nvPr>
        </p:nvSpPr>
        <p:spPr>
          <a:xfrm>
            <a:off x="0" y="1414463"/>
            <a:ext cx="5116513" cy="1354137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altLang="zh-CN" b="1" dirty="0" smtClean="0"/>
              <a:t>Thank You!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482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TS ChipPAC - Light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JCET Group Standard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7980E47516BB645B86E0C728F181474" ma:contentTypeVersion="10" ma:contentTypeDescription="Create a new document." ma:contentTypeScope="" ma:versionID="e9a37820596342270310b376171bfc4d">
  <xsd:schema xmlns:xsd="http://www.w3.org/2001/XMLSchema" xmlns:xs="http://www.w3.org/2001/XMLSchema" xmlns:p="http://schemas.microsoft.com/office/2006/metadata/properties" xmlns:ns2="01bade0f-f4e3-4cf3-9a37-a9474a3dc59f" xmlns:ns3="470b244f-112e-49db-a81f-cf6c92a96037" targetNamespace="http://schemas.microsoft.com/office/2006/metadata/properties" ma:root="true" ma:fieldsID="a83471af9b2118ab7cfed82bb389cce4" ns2:_="" ns3:_="">
    <xsd:import namespace="01bade0f-f4e3-4cf3-9a37-a9474a3dc59f"/>
    <xsd:import namespace="470b244f-112e-49db-a81f-cf6c92a960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bade0f-f4e3-4cf3-9a37-a9474a3dc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b244f-112e-49db-a81f-cf6c92a9603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3B15B8-309D-4718-ABF6-BA3D1B9453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C68017-D2CC-4A9E-A6D1-79DE94F9074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bade0f-f4e3-4cf3-9a37-a9474a3dc59f"/>
    <ds:schemaRef ds:uri="470b244f-112e-49db-a81f-cf6c92a960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A0475A-01DE-45B6-A0A3-55B789B83525}">
  <ds:schemaRefs>
    <ds:schemaRef ds:uri="http://purl.org/dc/dcmitype/"/>
    <ds:schemaRef ds:uri="01bade0f-f4e3-4cf3-9a37-a9474a3dc59f"/>
    <ds:schemaRef ds:uri="http://www.w3.org/XML/1998/namespace"/>
    <ds:schemaRef ds:uri="http://schemas.microsoft.com/office/2006/documentManagement/types"/>
    <ds:schemaRef ds:uri="470b244f-112e-49db-a81f-cf6c92a96037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23696</TotalTime>
  <Words>691</Words>
  <Application>Microsoft Office PowerPoint</Application>
  <PresentationFormat>사용자 지정</PresentationFormat>
  <Paragraphs>96</Paragraphs>
  <Slides>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Microsoft YaHei</vt:lpstr>
      <vt:lpstr>Microsoft YaHei</vt:lpstr>
      <vt:lpstr>맑은 고딕</vt:lpstr>
      <vt:lpstr>Arial</vt:lpstr>
      <vt:lpstr>STATS ChipPAC - Light</vt:lpstr>
      <vt:lpstr> UniversaDevice Studio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You! </vt:lpstr>
    </vt:vector>
  </TitlesOfParts>
  <Company>JCET Group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Wei.Wu@jcetglobal.com</dc:creator>
  <cp:lastModifiedBy>HONG SangSoo (JSCK-RF LAB2)</cp:lastModifiedBy>
  <cp:revision>1167</cp:revision>
  <dcterms:created xsi:type="dcterms:W3CDTF">2018-11-29T10:16:29Z</dcterms:created>
  <dcterms:modified xsi:type="dcterms:W3CDTF">2026-03-09T12:10:00Z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(3)m1WSHvjTi8Y1JVaeeVTGXq2VLPvsp98+YXkajCO6VGPgCTSnk+JUa/FPZ24N2LXv0xXN1j0w
XfnEY9WE2szdAhUTjnU3qm7xoBNLW8aqWSGkvDYD0rm8hetcgKe5lx9Wr+B5gdvHFPRhjbRj
NmvtnvdRV1fiBWFDbrvhxswAV7VqaA8DK0D0IDLbZS6YkgaZaaBx+dru0uijXruL4S8Ojdtf
kBHWljaqTLh79nCodJ</vt:lpwstr>
  </property>
  <property fmtid="{D5CDD505-2E9C-101B-9397-08002B2CF9AE}" pid="3" name="_2015_ms_pID_7253431">
    <vt:lpwstr>dVye0hWgHvNaHVj0FDzR7Ch4FkLzzMFf0X92YgAHUWd4Z7jpmpCFnN
lMS3DziRTHFGyo4Qx9Hwc76OFsjhiofeqSCJdEB8gmd43nkg5pv5wgDdfs88tdrzS0uehY/3
qBYgtD9eUXI7CZb5fcIy8kaRBNlIh8djZ2TAek4H9IsE8NwB62L468lFgDxws+jgjE5Oj38g
TwKW3o2ji/D7DmIoiVqr8Ii71XwiNByCV3Vg</vt:lpwstr>
  </property>
  <property fmtid="{D5CDD505-2E9C-101B-9397-08002B2CF9AE}" pid="4" name="_2015_ms_pID_7253432">
    <vt:lpwstr>2g==</vt:lpwstr>
  </property>
  <property fmtid="{D5CDD505-2E9C-101B-9397-08002B2CF9AE}" pid="5" name="ContentTypeId">
    <vt:lpwstr>0x010100A7980E47516BB645B86E0C728F181474</vt:lpwstr>
  </property>
</Properties>
</file>